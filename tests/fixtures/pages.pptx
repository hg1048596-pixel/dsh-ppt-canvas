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icrosoft YaHei"/>
              </a:rPr>
              <a:t>PAGE-1-MARKER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56692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333333"/>
                </a:solidFill>
                <a:latin typeface="Microsoft YaHei"/>
              </a:rPr>
              <a:t>本季度三条主线：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333333"/>
                </a:solidFill>
                <a:latin typeface="Microsoft YaHei"/>
              </a:rPr>
              <a:t>1. 协同编辑能力上线，覆盖 PPT 场景；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333333"/>
                </a:solidFill>
                <a:latin typeface="Microsoft YaHei"/>
              </a:rPr>
              <a:t>2. 选择上下文精度提升，token 消耗下降 38%；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333333"/>
                </a:solidFill>
                <a:latin typeface="Microsoft YaHei"/>
              </a:rPr>
              <a:t>3. 撤销重做与冲突检测进入灰度。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0" y="1600200"/>
            <a:ext cx="4846320" cy="2377440"/>
          </a:xfrm>
          <a:prstGeom prst="rect">
            <a:avLst/>
          </a:prstGeom>
          <a:solidFill>
            <a:srgbClr val="FFF2CC"/>
          </a:solidFill>
          <a:ln w="1587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1783080"/>
            <a:ext cx="44805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7F6000"/>
                </a:solidFill>
                <a:latin typeface="Microsoft YaHei"/>
              </a:rPr>
              <a:t>关键结论</a:t>
            </a:r>
          </a:p>
          <a:p>
            <a:pPr algn="l"/>
            <a:r>
              <a:rPr sz="1400" b="0" i="0">
                <a:solidFill>
                  <a:srgbClr val="7F6000"/>
                </a:solidFill>
                <a:latin typeface="Microsoft YaHei"/>
              </a:rPr>
              <a:t>· AI 编辑落在选区范围内</a:t>
            </a:r>
          </a:p>
          <a:p>
            <a:pPr algn="l"/>
            <a:r>
              <a:rPr sz="1400" b="0" i="0">
                <a:solidFill>
                  <a:srgbClr val="7F6000"/>
                </a:solidFill>
                <a:latin typeface="Microsoft YaHei"/>
              </a:rPr>
              <a:t>· 人工修改后 AI 基于最新版本继续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434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1">
                <a:solidFill>
                  <a:srgbClr val="888888"/>
                </a:solidFill>
                <a:latin typeface="Microsoft YaHei"/>
              </a:rPr>
              <a:t>数据来源：内部埋点（2026-09-30）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4206240"/>
            <a:ext cx="1106424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4E5F"/>
                </a:solidFill>
                <a:latin typeface="Microsoft YaHei"/>
              </a:rPr>
              <a:t>PAGE-2-MARKER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6583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</a:tblGrid>
              <a:tr h="594360">
                <a:tc>
                  <a:txBody>
                    <a:bodyPr/>
                    <a:lstStyle/>
                    <a:p>
                      <a:r>
                        <a:rPr sz="1400" b="1">
                          <a:latin typeface="Microsoft YaHei"/>
                        </a:rPr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Microsoft YaHei"/>
                        </a:rP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Microsoft YaHei"/>
                        </a:rP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Microsoft YaHei"/>
                        </a:rPr>
                        <a:t>变化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日活编辑用户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12,400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19,800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+59.7%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选区指令占比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+37pp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平均响应时延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4.2s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2.6s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-38%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7680960" y="1371600"/>
            <a:ext cx="3840480" cy="2377440"/>
          </a:xfrm>
          <a:prstGeom prst="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0" y="1554480"/>
            <a:ext cx="34747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74EA6"/>
                </a:solidFill>
                <a:latin typeface="Microsoft YaHei"/>
              </a:rPr>
              <a:t>下一步</a:t>
            </a:r>
          </a:p>
          <a:p>
            <a:pPr algn="l"/>
            <a:r>
              <a:rPr sz="1500" b="0" i="0">
                <a:solidFill>
                  <a:srgbClr val="174EA6"/>
                </a:solidFill>
                <a:latin typeface="Microsoft YaHei"/>
              </a:rPr>
              <a:t>1. 框选 + 批量改写</a:t>
            </a:r>
          </a:p>
          <a:p>
            <a:pPr algn="l"/>
            <a:r>
              <a:rPr sz="1500" b="0" i="0">
                <a:solidFill>
                  <a:srgbClr val="174EA6"/>
                </a:solidFill>
                <a:latin typeface="Microsoft YaHei"/>
              </a:rPr>
              <a:t>2. 风格统一</a:t>
            </a:r>
          </a:p>
          <a:p>
            <a:pPr algn="l"/>
            <a:r>
              <a:rPr sz="1500" b="0" i="0">
                <a:solidFill>
                  <a:srgbClr val="174EA6"/>
                </a:solidFill>
                <a:latin typeface="Microsoft YaHei"/>
              </a:rPr>
              <a:t>3. 母版级还原度验证</a:t>
            </a:r>
          </a:p>
        </p:txBody>
      </p:sp>
      <p:pic>
        <p:nvPicPr>
          <p:cNvPr id="6" name="Picture 5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023360"/>
            <a:ext cx="3291840" cy="2194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97680" y="4023360"/>
            <a:ext cx="72237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  <a:latin typeface="Microsoft YaHei"/>
              </a:rPr>
              <a:t>图注：柱状图为「选区指令占比」的趋势，右侧为容量冗余评估。</a:t>
            </a:r>
          </a:p>
          <a:p>
            <a:pPr algn="l"/>
            <a:r>
              <a:rPr sz="1400" b="0" i="0">
                <a:solidFill>
                  <a:srgbClr val="444444"/>
                </a:solidFill>
                <a:latin typeface="Microsoft YaHei"/>
              </a:rPr>
              <a:t>以上指标每周一自动刷新，异常波动会触发告警。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YaHei"/>
              </a:rPr>
              <a:t>PAGE-3-MARKER</a:t>
            </a:r>
          </a:p>
        </p:txBody>
      </p:sp>
      <p:sp>
        <p:nvSpPr>
          <p:cNvPr id="4" name="Oval 3"/>
          <p:cNvSpPr/>
          <p:nvPr/>
        </p:nvSpPr>
        <p:spPr>
          <a:xfrm>
            <a:off x="4754880" y="1920240"/>
            <a:ext cx="2651760" cy="2651760"/>
          </a:xfrm>
          <a:prstGeom prst="ellipse">
            <a:avLst/>
          </a:prstGeom>
          <a:solidFill>
            <a:srgbClr val="FDE7E9"/>
          </a:solidFill>
          <a:ln w="19050">
            <a:solidFill>
              <a:srgbClr val="D93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83480" y="2788920"/>
            <a:ext cx="2194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B31412"/>
                </a:solidFill>
                <a:latin typeface="Microsoft YaHei"/>
              </a:rPr>
              <a:t>3 个</a:t>
            </a:r>
          </a:p>
          <a:p>
            <a:pPr algn="ctr"/>
            <a:r>
              <a:rPr sz="1800" b="1" i="0">
                <a:solidFill>
                  <a:srgbClr val="B31412"/>
                </a:solidFill>
                <a:latin typeface="Microsoft YaHei"/>
              </a:rPr>
              <a:t>待办事项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
                  <a:srgbClr val="1F4E5F"/>
                </a:solidFill>
                <a:latin typeface="Microsoft YaHei"/>
              </a:rPr>
              <a:t>结论与待办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